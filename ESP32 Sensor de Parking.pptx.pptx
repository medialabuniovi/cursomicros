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JetBrains Mono Bold" charset="1" panose="02010809030102050004"/>
      <p:regular r:id="rId21"/>
    </p:embeddedFont>
    <p:embeddedFont>
      <p:font typeface="JetBrains Mono" charset="1" panose="0201050902010205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919170"/>
            <a:ext cx="914400" cy="57150"/>
            <a:chOff x="0" y="0"/>
            <a:chExt cx="12192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6200"/>
            </a:xfrm>
            <a:custGeom>
              <a:avLst/>
              <a:gdLst/>
              <a:ahLst/>
              <a:cxnLst/>
              <a:rect r="r" b="b" t="t" l="l"/>
              <a:pathLst>
                <a:path h="76200" w="12192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181100" y="0"/>
                  </a:lnTo>
                  <a:cubicBezTo>
                    <a:pt x="1202182" y="0"/>
                    <a:pt x="1219200" y="17018"/>
                    <a:pt x="1219200" y="38100"/>
                  </a:cubicBezTo>
                  <a:cubicBezTo>
                    <a:pt x="1219200" y="59182"/>
                    <a:pt x="1202182" y="76200"/>
                    <a:pt x="11811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291411"/>
            <a:ext cx="1725930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FUNDAMENTOS DE HARDWARE Y PROTOTIPADO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48624"/>
            <a:ext cx="14551819" cy="183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4"/>
              </a:lnSpc>
            </a:pPr>
            <a:r>
              <a:rPr lang="en-US" sz="63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Microcontroladores y Programación Física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07653"/>
            <a:ext cx="13573125" cy="49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Del silicio al mundo real · Taller práctico con ESP32 y sensor de parking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7772" y="2150269"/>
            <a:ext cx="6632972" cy="2943225"/>
            <a:chOff x="0" y="0"/>
            <a:chExt cx="8843962" cy="392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43899" cy="3924300"/>
            </a:xfrm>
            <a:custGeom>
              <a:avLst/>
              <a:gdLst/>
              <a:ahLst/>
              <a:cxnLst/>
              <a:rect r="r" b="b" t="t" l="l"/>
              <a:pathLst>
                <a:path h="3924300" w="8843899">
                  <a:moveTo>
                    <a:pt x="0" y="306197"/>
                  </a:moveTo>
                  <a:cubicBezTo>
                    <a:pt x="0" y="137160"/>
                    <a:pt x="137160" y="0"/>
                    <a:pt x="306197" y="0"/>
                  </a:cubicBezTo>
                  <a:lnTo>
                    <a:pt x="8537702" y="0"/>
                  </a:lnTo>
                  <a:cubicBezTo>
                    <a:pt x="8706866" y="0"/>
                    <a:pt x="8843899" y="137160"/>
                    <a:pt x="8843899" y="306197"/>
                  </a:cubicBezTo>
                  <a:lnTo>
                    <a:pt x="8843899" y="3618103"/>
                  </a:lnTo>
                  <a:cubicBezTo>
                    <a:pt x="8843899" y="3787267"/>
                    <a:pt x="8706739" y="3924300"/>
                    <a:pt x="8537702" y="3924300"/>
                  </a:cubicBezTo>
                  <a:lnTo>
                    <a:pt x="306197" y="3924300"/>
                  </a:lnTo>
                  <a:cubicBezTo>
                    <a:pt x="137160" y="3924300"/>
                    <a:pt x="0" y="3787140"/>
                    <a:pt x="0" y="361810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747772" y="5364956"/>
            <a:ext cx="6632972" cy="2943225"/>
            <a:chOff x="0" y="0"/>
            <a:chExt cx="8843962" cy="392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43899" cy="3924300"/>
            </a:xfrm>
            <a:custGeom>
              <a:avLst/>
              <a:gdLst/>
              <a:ahLst/>
              <a:cxnLst/>
              <a:rect r="r" b="b" t="t" l="l"/>
              <a:pathLst>
                <a:path h="3924300" w="8843899">
                  <a:moveTo>
                    <a:pt x="0" y="306197"/>
                  </a:moveTo>
                  <a:cubicBezTo>
                    <a:pt x="0" y="137160"/>
                    <a:pt x="137160" y="0"/>
                    <a:pt x="306197" y="0"/>
                  </a:cubicBezTo>
                  <a:lnTo>
                    <a:pt x="8537702" y="0"/>
                  </a:lnTo>
                  <a:cubicBezTo>
                    <a:pt x="8706866" y="0"/>
                    <a:pt x="8843899" y="137160"/>
                    <a:pt x="8843899" y="306197"/>
                  </a:cubicBezTo>
                  <a:lnTo>
                    <a:pt x="8843899" y="3618103"/>
                  </a:lnTo>
                  <a:cubicBezTo>
                    <a:pt x="8843899" y="3787267"/>
                    <a:pt x="8706739" y="3924300"/>
                    <a:pt x="8537702" y="3924300"/>
                  </a:cubicBezTo>
                  <a:lnTo>
                    <a:pt x="306197" y="3924300"/>
                  </a:lnTo>
                  <a:cubicBezTo>
                    <a:pt x="137160" y="3924300"/>
                    <a:pt x="0" y="3787140"/>
                    <a:pt x="0" y="3618103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57412"/>
            <a:ext cx="9326166" cy="6143625"/>
            <a:chOff x="0" y="0"/>
            <a:chExt cx="12434888" cy="8191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2434824" cy="8191500"/>
            </a:xfrm>
            <a:custGeom>
              <a:avLst/>
              <a:gdLst/>
              <a:ahLst/>
              <a:cxnLst/>
              <a:rect r="r" b="b" t="t" l="l"/>
              <a:pathLst>
                <a:path h="8191500" w="12434824">
                  <a:moveTo>
                    <a:pt x="0" y="0"/>
                  </a:moveTo>
                  <a:lnTo>
                    <a:pt x="12434824" y="0"/>
                  </a:lnTo>
                  <a:lnTo>
                    <a:pt x="12434824" y="8191500"/>
                  </a:lnTo>
                  <a:lnTo>
                    <a:pt x="0" y="819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" t="0" r="-1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0138" y="2343150"/>
            <a:ext cx="8954691" cy="5772150"/>
            <a:chOff x="0" y="0"/>
            <a:chExt cx="11939588" cy="76962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1939524" cy="7696200"/>
            </a:xfrm>
            <a:custGeom>
              <a:avLst/>
              <a:gdLst/>
              <a:ahLst/>
              <a:cxnLst/>
              <a:rect r="r" b="b" t="t" l="l"/>
              <a:pathLst>
                <a:path h="7696200" w="11939524">
                  <a:moveTo>
                    <a:pt x="0" y="0"/>
                  </a:moveTo>
                  <a:lnTo>
                    <a:pt x="11939524" y="0"/>
                  </a:lnTo>
                  <a:lnTo>
                    <a:pt x="11939524" y="7696200"/>
                  </a:lnTo>
                  <a:lnTo>
                    <a:pt x="0" y="769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7" r="0" b="-14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112103" y="3021806"/>
            <a:ext cx="314325" cy="314325"/>
            <a:chOff x="0" y="0"/>
            <a:chExt cx="419100" cy="419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19100" cy="419100"/>
            </a:xfrm>
            <a:custGeom>
              <a:avLst/>
              <a:gdLst/>
              <a:ahLst/>
              <a:cxnLst/>
              <a:rect r="r" b="b" t="t" l="l"/>
              <a:pathLst>
                <a:path h="4191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72" t="0" r="-227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12103" y="6236494"/>
            <a:ext cx="271462" cy="314325"/>
            <a:chOff x="0" y="0"/>
            <a:chExt cx="361950" cy="4191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61950" cy="419100"/>
            </a:xfrm>
            <a:custGeom>
              <a:avLst/>
              <a:gdLst/>
              <a:ahLst/>
              <a:cxnLst/>
              <a:rect r="r" b="b" t="t" l="l"/>
              <a:pathLst>
                <a:path h="41910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31" t="0" r="-263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CONCEPTO RAÍZ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¿Qué es Realmente un Microcontrolador?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16903" y="2955131"/>
            <a:ext cx="687109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Millones de Puertas Lógicas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12103" y="3498056"/>
            <a:ext cx="717589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Redes de transistores en silicio.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12103" y="3940969"/>
            <a:ext cx="717589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Álgebra booleana a nivel físico.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88328" y="6169819"/>
            <a:ext cx="689967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Programar Hardware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2103" y="6712744"/>
            <a:ext cx="717589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Conmutar voltajes (0V y 3.3V).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12103" y="7155656"/>
            <a:ext cx="7175897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Control en tiempo real estricto.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2207419"/>
            <a:ext cx="7986712" cy="5729288"/>
            <a:chOff x="0" y="0"/>
            <a:chExt cx="10648950" cy="763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48950" cy="7639050"/>
            </a:xfrm>
            <a:custGeom>
              <a:avLst/>
              <a:gdLst/>
              <a:ahLst/>
              <a:cxnLst/>
              <a:rect r="r" b="b" t="t" l="l"/>
              <a:pathLst>
                <a:path h="7639050" w="106489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343388" y="0"/>
                  </a:lnTo>
                  <a:cubicBezTo>
                    <a:pt x="10512171" y="0"/>
                    <a:pt x="10648950" y="136779"/>
                    <a:pt x="10648950" y="305562"/>
                  </a:cubicBezTo>
                  <a:lnTo>
                    <a:pt x="10648950" y="7333488"/>
                  </a:lnTo>
                  <a:cubicBezTo>
                    <a:pt x="10648950" y="7502271"/>
                    <a:pt x="10512171" y="7639050"/>
                    <a:pt x="10343388" y="7639050"/>
                  </a:cubicBezTo>
                  <a:lnTo>
                    <a:pt x="305562" y="7639050"/>
                  </a:lnTo>
                  <a:cubicBezTo>
                    <a:pt x="136779" y="7639050"/>
                    <a:pt x="0" y="7502271"/>
                    <a:pt x="0" y="7333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94031" y="2207419"/>
            <a:ext cx="7986712" cy="5729288"/>
            <a:chOff x="0" y="0"/>
            <a:chExt cx="10648950" cy="763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48950" cy="7639050"/>
            </a:xfrm>
            <a:custGeom>
              <a:avLst/>
              <a:gdLst/>
              <a:ahLst/>
              <a:cxnLst/>
              <a:rect r="r" b="b" t="t" l="l"/>
              <a:pathLst>
                <a:path h="7639050" w="106489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343388" y="0"/>
                  </a:lnTo>
                  <a:cubicBezTo>
                    <a:pt x="10512171" y="0"/>
                    <a:pt x="10648950" y="136779"/>
                    <a:pt x="10648950" y="305562"/>
                  </a:cubicBezTo>
                  <a:lnTo>
                    <a:pt x="10648950" y="7333488"/>
                  </a:lnTo>
                  <a:cubicBezTo>
                    <a:pt x="10648950" y="7502271"/>
                    <a:pt x="10512171" y="7639050"/>
                    <a:pt x="10343388" y="7639050"/>
                  </a:cubicBezTo>
                  <a:lnTo>
                    <a:pt x="305562" y="7639050"/>
                  </a:lnTo>
                  <a:cubicBezTo>
                    <a:pt x="136779" y="7639050"/>
                    <a:pt x="0" y="7502271"/>
                    <a:pt x="0" y="7333488"/>
                  </a:cubicBezTo>
                  <a:close/>
                </a:path>
              </a:pathLst>
            </a:custGeom>
            <a:solidFill>
              <a:srgbClr val="EFF6FF"/>
            </a:solidFill>
            <a:ln w="14288" cap="sq">
              <a:solidFill>
                <a:srgbClr val="BFDBFE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CONTEXTO Y HERRAMIENTA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En Todas Partes · Nuestra Placa de Pruebas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5888" y="4031456"/>
            <a:ext cx="922615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Industria y Vida Cotidiana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5888" y="4755356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 Centralitas de coche, ABS y sensores.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888" y="5255419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 Electrodomésticos y climatización.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5888" y="5755481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 Domótica y automatismos.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2662" y="4031456"/>
            <a:ext cx="84153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E40AF"/>
                </a:solidFill>
                <a:latin typeface="Arimo Bold"/>
                <a:ea typeface="Arimo Bold"/>
                <a:cs typeface="Arimo Bold"/>
                <a:sym typeface="Arimo Bold"/>
              </a:rPr>
              <a:t>Nuestra Elección: ESP32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2662" y="4755356"/>
            <a:ext cx="841533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• Placa estándar de pruebas y desarrollo.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2662" y="5255419"/>
            <a:ext cx="841533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• Pines físicos accesibles para cables.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72662" y="5755481"/>
            <a:ext cx="841533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• Rápida, versátil y económica.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2207419"/>
            <a:ext cx="5233911" cy="5443538"/>
            <a:chOff x="0" y="0"/>
            <a:chExt cx="6978548" cy="7258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78523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78523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72961" y="0"/>
                  </a:lnTo>
                  <a:cubicBezTo>
                    <a:pt x="6841744" y="0"/>
                    <a:pt x="6978523" y="136779"/>
                    <a:pt x="6978523" y="305562"/>
                  </a:cubicBezTo>
                  <a:lnTo>
                    <a:pt x="6978523" y="6952488"/>
                  </a:lnTo>
                  <a:cubicBezTo>
                    <a:pt x="6978523" y="7121271"/>
                    <a:pt x="6841744" y="7258050"/>
                    <a:pt x="6672961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26930" y="2207419"/>
            <a:ext cx="5233911" cy="5443538"/>
            <a:chOff x="0" y="0"/>
            <a:chExt cx="6978548" cy="7258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78523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78523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72961" y="0"/>
                  </a:lnTo>
                  <a:cubicBezTo>
                    <a:pt x="6841744" y="0"/>
                    <a:pt x="6978523" y="136779"/>
                    <a:pt x="6978523" y="305562"/>
                  </a:cubicBezTo>
                  <a:lnTo>
                    <a:pt x="6978523" y="6952488"/>
                  </a:lnTo>
                  <a:cubicBezTo>
                    <a:pt x="6978523" y="7121271"/>
                    <a:pt x="6841744" y="7258050"/>
                    <a:pt x="6672961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46604" y="2207419"/>
            <a:ext cx="5233911" cy="5443538"/>
            <a:chOff x="0" y="0"/>
            <a:chExt cx="6978548" cy="7258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8523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78523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72961" y="0"/>
                  </a:lnTo>
                  <a:cubicBezTo>
                    <a:pt x="6841744" y="0"/>
                    <a:pt x="6978523" y="136779"/>
                    <a:pt x="6978523" y="305562"/>
                  </a:cubicBezTo>
                  <a:lnTo>
                    <a:pt x="6978523" y="6952488"/>
                  </a:lnTo>
                  <a:cubicBezTo>
                    <a:pt x="6978523" y="7121271"/>
                    <a:pt x="6841744" y="7258050"/>
                    <a:pt x="6672961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71588" y="3971925"/>
            <a:ext cx="4505249" cy="457200"/>
            <a:chOff x="0" y="0"/>
            <a:chExt cx="6006998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00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6006973">
                  <a:moveTo>
                    <a:pt x="0" y="0"/>
                  </a:moveTo>
                  <a:lnTo>
                    <a:pt x="6006973" y="0"/>
                  </a:lnTo>
                  <a:lnTo>
                    <a:pt x="6006973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6" t="0" r="-10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891261" y="3971925"/>
            <a:ext cx="4505249" cy="457200"/>
            <a:chOff x="0" y="0"/>
            <a:chExt cx="6006998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600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6006973">
                  <a:moveTo>
                    <a:pt x="0" y="0"/>
                  </a:moveTo>
                  <a:lnTo>
                    <a:pt x="6006973" y="0"/>
                  </a:lnTo>
                  <a:lnTo>
                    <a:pt x="6006973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6" t="0" r="-10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510935" y="3643312"/>
            <a:ext cx="4505249" cy="457200"/>
            <a:chOff x="0" y="0"/>
            <a:chExt cx="6006998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006973" cy="609600"/>
            </a:xfrm>
            <a:custGeom>
              <a:avLst/>
              <a:gdLst/>
              <a:ahLst/>
              <a:cxnLst/>
              <a:rect r="r" b="b" t="t" l="l"/>
              <a:pathLst>
                <a:path h="609600" w="6006973">
                  <a:moveTo>
                    <a:pt x="0" y="0"/>
                  </a:moveTo>
                  <a:lnTo>
                    <a:pt x="6006973" y="0"/>
                  </a:lnTo>
                  <a:lnTo>
                    <a:pt x="6006973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6" t="0" r="-10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CASO PRÁCTICO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Sensor de Parking: El Hilo Conductor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1588" y="4619625"/>
            <a:ext cx="591313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1. Entrada (Captura)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1588" y="5133975"/>
            <a:ext cx="563156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Sensor HC-SR04.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1588" y="5548313"/>
            <a:ext cx="563156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Mide distancias por ultrasonidos.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91261" y="4619625"/>
            <a:ext cx="591313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2. Cerebro (Lógica)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91261" y="5133975"/>
            <a:ext cx="563156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Microcontrolador ESP32.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1261" y="5548313"/>
            <a:ext cx="563156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Evalúa riesgo y calcula cadencia.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10935" y="4291013"/>
            <a:ext cx="577706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3. Salidas (Acción)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10935" y="4805363"/>
            <a:ext cx="464812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Buzzer: aviso sonoro por proximidad.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10935" y="5548313"/>
            <a:ext cx="464812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Pantalla OLED: datos visuales en cm.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44250" y="3957638"/>
            <a:ext cx="57150" cy="1071562"/>
            <a:chOff x="0" y="0"/>
            <a:chExt cx="76200" cy="1428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144250" y="5314950"/>
            <a:ext cx="57150" cy="1071562"/>
            <a:chOff x="0" y="0"/>
            <a:chExt cx="76200" cy="1428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44250" y="6672262"/>
            <a:ext cx="57150" cy="1071562"/>
            <a:chOff x="0" y="0"/>
            <a:chExt cx="76200" cy="1428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0284C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5463" y="3993356"/>
            <a:ext cx="9601200" cy="3750469"/>
            <a:chOff x="0" y="0"/>
            <a:chExt cx="12801600" cy="50006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0" cy="5000625"/>
            </a:xfrm>
            <a:custGeom>
              <a:avLst/>
              <a:gdLst/>
              <a:ahLst/>
              <a:cxnLst/>
              <a:rect r="r" b="b" t="t" l="l"/>
              <a:pathLst>
                <a:path h="5000625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000625"/>
                  </a:lnTo>
                  <a:lnTo>
                    <a:pt x="0" y="5000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04" t="0" r="-50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MONTAJE DE CIRCUITOS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¿Cómo Conecta la Protoboard por Dentro?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0" y="3938588"/>
            <a:ext cx="6858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Buses Laterales (+ y -)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0" y="4362450"/>
            <a:ext cx="60864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Unidos a lo largo. Alimentados directo desde el ESP32.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0" y="5295900"/>
            <a:ext cx="6858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Pistas Verticales (5 Pines)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0" y="5719763"/>
            <a:ext cx="60864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Cada grupo de 5 agujeros es un nodo de contacto común.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0" y="6653212"/>
            <a:ext cx="685800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Canal Central Aislante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0" y="7077075"/>
            <a:ext cx="6086475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Separa ambos lados para insertar chips sin unir sus patas.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2207419"/>
            <a:ext cx="5195964" cy="5443538"/>
            <a:chOff x="0" y="0"/>
            <a:chExt cx="6927952" cy="7258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7977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27977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22415" y="0"/>
                  </a:lnTo>
                  <a:cubicBezTo>
                    <a:pt x="6791198" y="0"/>
                    <a:pt x="6927977" y="136779"/>
                    <a:pt x="6927977" y="305562"/>
                  </a:cubicBezTo>
                  <a:lnTo>
                    <a:pt x="6927977" y="6952488"/>
                  </a:lnTo>
                  <a:cubicBezTo>
                    <a:pt x="6927977" y="7121271"/>
                    <a:pt x="6791198" y="7258050"/>
                    <a:pt x="6622415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46132" y="2207419"/>
            <a:ext cx="5195964" cy="5443538"/>
            <a:chOff x="0" y="0"/>
            <a:chExt cx="6927952" cy="7258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7977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27977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22415" y="0"/>
                  </a:lnTo>
                  <a:cubicBezTo>
                    <a:pt x="6791198" y="0"/>
                    <a:pt x="6927977" y="136779"/>
                    <a:pt x="6927977" y="305562"/>
                  </a:cubicBezTo>
                  <a:lnTo>
                    <a:pt x="6927977" y="6952488"/>
                  </a:lnTo>
                  <a:cubicBezTo>
                    <a:pt x="6927977" y="7121271"/>
                    <a:pt x="6791198" y="7258050"/>
                    <a:pt x="6622415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85009" y="2207419"/>
            <a:ext cx="5195964" cy="5443538"/>
            <a:chOff x="0" y="0"/>
            <a:chExt cx="6927952" cy="7258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27977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27977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22415" y="0"/>
                  </a:lnTo>
                  <a:cubicBezTo>
                    <a:pt x="6791198" y="0"/>
                    <a:pt x="6927977" y="136779"/>
                    <a:pt x="6927977" y="305562"/>
                  </a:cubicBezTo>
                  <a:lnTo>
                    <a:pt x="6927977" y="6952488"/>
                  </a:lnTo>
                  <a:cubicBezTo>
                    <a:pt x="6927977" y="7121271"/>
                    <a:pt x="6791198" y="7258050"/>
                    <a:pt x="6622415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28738" y="3929062"/>
            <a:ext cx="4353001" cy="457200"/>
            <a:chOff x="0" y="0"/>
            <a:chExt cx="5804002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804027" cy="609600"/>
            </a:xfrm>
            <a:custGeom>
              <a:avLst/>
              <a:gdLst/>
              <a:ahLst/>
              <a:cxnLst/>
              <a:rect r="r" b="b" t="t" l="l"/>
              <a:pathLst>
                <a:path h="609600" w="5804027">
                  <a:moveTo>
                    <a:pt x="0" y="0"/>
                  </a:moveTo>
                  <a:lnTo>
                    <a:pt x="5804027" y="0"/>
                  </a:lnTo>
                  <a:lnTo>
                    <a:pt x="580402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7" t="0" r="-2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67614" y="3757612"/>
            <a:ext cx="4353001" cy="457200"/>
            <a:chOff x="0" y="0"/>
            <a:chExt cx="5804002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804027" cy="609600"/>
            </a:xfrm>
            <a:custGeom>
              <a:avLst/>
              <a:gdLst/>
              <a:ahLst/>
              <a:cxnLst/>
              <a:rect r="r" b="b" t="t" l="l"/>
              <a:pathLst>
                <a:path h="609600" w="5804027">
                  <a:moveTo>
                    <a:pt x="0" y="0"/>
                  </a:moveTo>
                  <a:lnTo>
                    <a:pt x="5804027" y="0"/>
                  </a:lnTo>
                  <a:lnTo>
                    <a:pt x="580402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7" t="0" r="-21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06490" y="3764756"/>
            <a:ext cx="4353001" cy="457200"/>
            <a:chOff x="0" y="0"/>
            <a:chExt cx="5804002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804027" cy="609600"/>
            </a:xfrm>
            <a:custGeom>
              <a:avLst/>
              <a:gdLst/>
              <a:ahLst/>
              <a:cxnLst/>
              <a:rect r="r" b="b" t="t" l="l"/>
              <a:pathLst>
                <a:path h="609600" w="5804027">
                  <a:moveTo>
                    <a:pt x="0" y="0"/>
                  </a:moveTo>
                  <a:lnTo>
                    <a:pt x="5804027" y="0"/>
                  </a:lnTo>
                  <a:lnTo>
                    <a:pt x="580402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39" r="0" b="-133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COMPONENTES PASIVOS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Resistencias: Protección y Ley de Ohm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8738" y="4605337"/>
            <a:ext cx="571331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El "Freno" de la Corriente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8738" y="5148263"/>
            <a:ext cx="544125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Evita cortocircuitos.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8738" y="5591175"/>
            <a:ext cx="544125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Protege componentes delicados.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67614" y="4433887"/>
            <a:ext cx="571331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Ley de Ohm: V = I · 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7614" y="4976813"/>
            <a:ext cx="544125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Tensión = Corriente × Resistencia.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67614" y="5419725"/>
            <a:ext cx="4495876" cy="68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Más ohmios (Ω) = menos intensidad (A).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6490" y="4441031"/>
            <a:ext cx="56815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Límite del ESP32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6490" y="4983956"/>
            <a:ext cx="544125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Máximo ~12 mA por pin.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6490" y="5426869"/>
            <a:ext cx="449587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Exceso de corriente destruye el silicio.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2150269"/>
            <a:ext cx="7986712" cy="5443538"/>
            <a:chOff x="0" y="0"/>
            <a:chExt cx="10648950" cy="7258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48950" cy="7258050"/>
            </a:xfrm>
            <a:custGeom>
              <a:avLst/>
              <a:gdLst/>
              <a:ahLst/>
              <a:cxnLst/>
              <a:rect r="r" b="b" t="t" l="l"/>
              <a:pathLst>
                <a:path h="7258050" w="106489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343388" y="0"/>
                  </a:lnTo>
                  <a:cubicBezTo>
                    <a:pt x="10512171" y="0"/>
                    <a:pt x="10648950" y="136779"/>
                    <a:pt x="10648950" y="305562"/>
                  </a:cubicBezTo>
                  <a:lnTo>
                    <a:pt x="10648950" y="6952488"/>
                  </a:lnTo>
                  <a:cubicBezTo>
                    <a:pt x="10648950" y="7121271"/>
                    <a:pt x="10512171" y="7258050"/>
                    <a:pt x="10343388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EF2F2"/>
            </a:solidFill>
            <a:ln w="14288" cap="sq">
              <a:solidFill>
                <a:srgbClr val="FEE2E2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94031" y="2150269"/>
            <a:ext cx="7986712" cy="5443538"/>
            <a:chOff x="0" y="0"/>
            <a:chExt cx="10648950" cy="7258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48950" cy="7258050"/>
            </a:xfrm>
            <a:custGeom>
              <a:avLst/>
              <a:gdLst/>
              <a:ahLst/>
              <a:cxnLst/>
              <a:rect r="r" b="b" t="t" l="l"/>
              <a:pathLst>
                <a:path h="7258050" w="106489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343388" y="0"/>
                  </a:lnTo>
                  <a:cubicBezTo>
                    <a:pt x="10512171" y="0"/>
                    <a:pt x="10648950" y="136779"/>
                    <a:pt x="10648950" y="305562"/>
                  </a:cubicBezTo>
                  <a:lnTo>
                    <a:pt x="10648950" y="6952488"/>
                  </a:lnTo>
                  <a:cubicBezTo>
                    <a:pt x="10648950" y="7121271"/>
                    <a:pt x="10512171" y="7258050"/>
                    <a:pt x="10343388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SEGURIDAD ELÉCTRICA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El Divisor Resistivo: Adaptar 5V a 3.3V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5888" y="4124325"/>
            <a:ext cx="922615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El Problema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5888" y="4791075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991B1B"/>
                </a:solidFill>
                <a:latin typeface="Arimo"/>
                <a:ea typeface="Arimo"/>
                <a:cs typeface="Arimo"/>
                <a:sym typeface="Arimo"/>
              </a:rPr>
              <a:t>• El HC-SR04 emite 5V en ECHO.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888" y="5262563"/>
            <a:ext cx="87868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991B1B"/>
                </a:solidFill>
                <a:latin typeface="Arimo"/>
                <a:ea typeface="Arimo"/>
                <a:cs typeface="Arimo"/>
                <a:sym typeface="Arimo"/>
              </a:rPr>
              <a:t>• El pin del ESP32 tolera 3.3V como máximo.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72662" y="3888581"/>
            <a:ext cx="841533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La Solución (2 Resistencias)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72662" y="4555331"/>
            <a:ext cx="8415338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0F172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Vout = Vin · [ R2 / (R1 + R2) 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72662" y="5026819"/>
            <a:ext cx="84153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 R1 = 1 kΩ (en serie con el pin ECHO).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72662" y="5484019"/>
            <a:ext cx="84153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• R2 = 2 kΩ (a tierra GND) ➔ </a:t>
            </a:r>
            <a:r>
              <a:rPr lang="en-US" sz="2025" b="true">
                <a:solidFill>
                  <a:srgbClr val="334155"/>
                </a:solidFill>
                <a:latin typeface="Arimo Bold"/>
                <a:ea typeface="Arimo Bold"/>
                <a:cs typeface="Arimo Bold"/>
                <a:sym typeface="Arimo Bold"/>
              </a:rPr>
              <a:t>~3.33V seguros</a:t>
            </a:r>
            <a:r>
              <a:rPr lang="en-US" sz="2025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2207419"/>
            <a:ext cx="8015288" cy="5586412"/>
            <a:chOff x="0" y="0"/>
            <a:chExt cx="10687050" cy="7448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7050" cy="7448550"/>
            </a:xfrm>
            <a:custGeom>
              <a:avLst/>
              <a:gdLst/>
              <a:ahLst/>
              <a:cxnLst/>
              <a:rect r="r" b="b" t="t" l="l"/>
              <a:pathLst>
                <a:path h="7448550" w="106870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381488" y="0"/>
                  </a:lnTo>
                  <a:cubicBezTo>
                    <a:pt x="10550271" y="0"/>
                    <a:pt x="10687050" y="136779"/>
                    <a:pt x="10687050" y="305562"/>
                  </a:cubicBezTo>
                  <a:lnTo>
                    <a:pt x="10687050" y="7142988"/>
                  </a:lnTo>
                  <a:cubicBezTo>
                    <a:pt x="10687050" y="7311771"/>
                    <a:pt x="10550271" y="7448550"/>
                    <a:pt x="10381488" y="7448550"/>
                  </a:cubicBezTo>
                  <a:lnTo>
                    <a:pt x="305562" y="7448550"/>
                  </a:lnTo>
                  <a:cubicBezTo>
                    <a:pt x="136779" y="7448550"/>
                    <a:pt x="0" y="7311771"/>
                    <a:pt x="0" y="7142988"/>
                  </a:cubicBezTo>
                  <a:close/>
                </a:path>
              </a:pathLst>
            </a:custGeom>
            <a:solidFill>
              <a:srgbClr val="EFF6FF"/>
            </a:solidFill>
            <a:ln w="14288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365456" y="2207419"/>
            <a:ext cx="8015288" cy="5586412"/>
            <a:chOff x="0" y="0"/>
            <a:chExt cx="10687050" cy="7448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87050" cy="7448550"/>
            </a:xfrm>
            <a:custGeom>
              <a:avLst/>
              <a:gdLst/>
              <a:ahLst/>
              <a:cxnLst/>
              <a:rect r="r" b="b" t="t" l="l"/>
              <a:pathLst>
                <a:path h="7448550" w="10687050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0381488" y="0"/>
                  </a:lnTo>
                  <a:cubicBezTo>
                    <a:pt x="10550271" y="0"/>
                    <a:pt x="10687050" y="136779"/>
                    <a:pt x="10687050" y="305562"/>
                  </a:cubicBezTo>
                  <a:lnTo>
                    <a:pt x="10687050" y="7142988"/>
                  </a:lnTo>
                  <a:cubicBezTo>
                    <a:pt x="10687050" y="7311771"/>
                    <a:pt x="10550271" y="7448550"/>
                    <a:pt x="10381488" y="7448550"/>
                  </a:cubicBezTo>
                  <a:lnTo>
                    <a:pt x="305562" y="7448550"/>
                  </a:lnTo>
                  <a:cubicBezTo>
                    <a:pt x="136779" y="7448550"/>
                    <a:pt x="0" y="7311771"/>
                    <a:pt x="0" y="7142988"/>
                  </a:cubicBezTo>
                  <a:close/>
                </a:path>
              </a:pathLst>
            </a:custGeom>
            <a:solidFill>
              <a:srgbClr val="ECFDF5"/>
            </a:solidFill>
            <a:ln w="14288" cap="sq">
              <a:solidFill>
                <a:srgbClr val="A7F3D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LÓGICA DE PINES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GPIO: INPUT (Entrada) vs OUTPUT (Salida)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5888" y="4024312"/>
            <a:ext cx="8822531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1D4ED8"/>
                </a:solidFill>
                <a:latin typeface="Arimo Bold"/>
                <a:ea typeface="Arimo Bold"/>
                <a:cs typeface="Arimo Bold"/>
                <a:sym typeface="Arimo Bold"/>
              </a:rPr>
              <a:t>ESCUCHA EL ENTORNO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5888" y="4410075"/>
            <a:ext cx="926365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INPUT (Entrada)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888" y="5148263"/>
            <a:ext cx="882253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• Lee niveles de tensión o mide pulsos de tiempo.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5888" y="5619750"/>
            <a:ext cx="8822531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2025" b="true">
                <a:solidFill>
                  <a:srgbClr val="1E3A8A"/>
                </a:solidFill>
                <a:latin typeface="Arimo Bold"/>
                <a:ea typeface="Arimo Bold"/>
                <a:cs typeface="Arimo Bold"/>
                <a:sym typeface="Arimo Bold"/>
              </a:rPr>
              <a:t>En nuestro taller:</a:t>
            </a:r>
            <a:r>
              <a:rPr lang="en-US" sz="2025">
                <a:solidFill>
                  <a:srgbClr val="1E3A8A"/>
                </a:solidFill>
                <a:latin typeface="Arimo"/>
                <a:ea typeface="Arimo"/>
                <a:cs typeface="Arimo"/>
                <a:sym typeface="Arimo"/>
              </a:rPr>
              <a:t> Pin ECHO del ultrasonidos.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44088" y="4024312"/>
            <a:ext cx="8443912" cy="2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 b="true">
                <a:solidFill>
                  <a:srgbClr val="047857"/>
                </a:solidFill>
                <a:latin typeface="Arimo Bold"/>
                <a:ea typeface="Arimo Bold"/>
                <a:cs typeface="Arimo Bold"/>
                <a:sym typeface="Arimo Bold"/>
              </a:rPr>
              <a:t>ACTÚA SOBRE EL MUNDO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44088" y="4410075"/>
            <a:ext cx="844391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true">
                <a:solidFill>
                  <a:srgbClr val="064E3B"/>
                </a:solidFill>
                <a:latin typeface="Arimo Bold"/>
                <a:ea typeface="Arimo Bold"/>
                <a:cs typeface="Arimo Bold"/>
                <a:sym typeface="Arimo Bold"/>
              </a:rPr>
              <a:t>OUTPUT (Salida)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44088" y="5148263"/>
            <a:ext cx="84439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65F46"/>
                </a:solidFill>
                <a:latin typeface="Arimo"/>
                <a:ea typeface="Arimo"/>
                <a:cs typeface="Arimo"/>
                <a:sym typeface="Arimo"/>
              </a:rPr>
              <a:t>• Aplica 0V o 3.3V para gobernar circuitos.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4088" y="5619750"/>
            <a:ext cx="8443912" cy="33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64E3B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2025" b="true">
                <a:solidFill>
                  <a:srgbClr val="064E3B"/>
                </a:solidFill>
                <a:latin typeface="Arimo Bold"/>
                <a:ea typeface="Arimo Bold"/>
                <a:cs typeface="Arimo Bold"/>
                <a:sym typeface="Arimo Bold"/>
              </a:rPr>
              <a:t>En nuestro taller:</a:t>
            </a:r>
            <a:r>
              <a:rPr lang="en-US" sz="2025">
                <a:solidFill>
                  <a:srgbClr val="064E3B"/>
                </a:solidFill>
                <a:latin typeface="Arimo"/>
                <a:ea typeface="Arimo"/>
                <a:cs typeface="Arimo"/>
                <a:sym typeface="Arimo"/>
              </a:rPr>
              <a:t> Pin TRIG y Buzzer sonoro.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7256" y="2207419"/>
            <a:ext cx="5195964" cy="5443538"/>
            <a:chOff x="0" y="0"/>
            <a:chExt cx="6927952" cy="7258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27977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27977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22415" y="0"/>
                  </a:lnTo>
                  <a:cubicBezTo>
                    <a:pt x="6791198" y="0"/>
                    <a:pt x="6927977" y="136779"/>
                    <a:pt x="6927977" y="305562"/>
                  </a:cubicBezTo>
                  <a:lnTo>
                    <a:pt x="6927977" y="6952488"/>
                  </a:lnTo>
                  <a:cubicBezTo>
                    <a:pt x="6927977" y="7121271"/>
                    <a:pt x="6791198" y="7258050"/>
                    <a:pt x="6622415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546132" y="2207419"/>
            <a:ext cx="5195964" cy="5443538"/>
            <a:chOff x="0" y="0"/>
            <a:chExt cx="6927952" cy="7258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7977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27977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22415" y="0"/>
                  </a:lnTo>
                  <a:cubicBezTo>
                    <a:pt x="6791198" y="0"/>
                    <a:pt x="6927977" y="136779"/>
                    <a:pt x="6927977" y="305562"/>
                  </a:cubicBezTo>
                  <a:lnTo>
                    <a:pt x="6927977" y="6952488"/>
                  </a:lnTo>
                  <a:cubicBezTo>
                    <a:pt x="6927977" y="7121271"/>
                    <a:pt x="6791198" y="7258050"/>
                    <a:pt x="6622415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85009" y="2207419"/>
            <a:ext cx="5195964" cy="5443538"/>
            <a:chOff x="0" y="0"/>
            <a:chExt cx="6927952" cy="7258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27977" cy="7258050"/>
            </a:xfrm>
            <a:custGeom>
              <a:avLst/>
              <a:gdLst/>
              <a:ahLst/>
              <a:cxnLst/>
              <a:rect r="r" b="b" t="t" l="l"/>
              <a:pathLst>
                <a:path h="7258050" w="6927977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6622415" y="0"/>
                  </a:lnTo>
                  <a:cubicBezTo>
                    <a:pt x="6791198" y="0"/>
                    <a:pt x="6927977" y="136779"/>
                    <a:pt x="6927977" y="305562"/>
                  </a:cubicBezTo>
                  <a:lnTo>
                    <a:pt x="6927977" y="6952488"/>
                  </a:lnTo>
                  <a:cubicBezTo>
                    <a:pt x="6927977" y="7121271"/>
                    <a:pt x="6791198" y="7258050"/>
                    <a:pt x="6622415" y="7258050"/>
                  </a:cubicBezTo>
                  <a:lnTo>
                    <a:pt x="305562" y="7258050"/>
                  </a:lnTo>
                  <a:cubicBezTo>
                    <a:pt x="136779" y="7258050"/>
                    <a:pt x="0" y="7121271"/>
                    <a:pt x="0" y="69524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28738" y="3986212"/>
            <a:ext cx="4353001" cy="457200"/>
            <a:chOff x="0" y="0"/>
            <a:chExt cx="5804002" cy="6096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804027" cy="609600"/>
            </a:xfrm>
            <a:custGeom>
              <a:avLst/>
              <a:gdLst/>
              <a:ahLst/>
              <a:cxnLst/>
              <a:rect r="r" b="b" t="t" l="l"/>
              <a:pathLst>
                <a:path h="609600" w="5804027">
                  <a:moveTo>
                    <a:pt x="0" y="0"/>
                  </a:moveTo>
                  <a:lnTo>
                    <a:pt x="5804027" y="0"/>
                  </a:lnTo>
                  <a:lnTo>
                    <a:pt x="580402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7" t="0" r="-2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67614" y="3986212"/>
            <a:ext cx="4353001" cy="457200"/>
            <a:chOff x="0" y="0"/>
            <a:chExt cx="5804002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804027" cy="609600"/>
            </a:xfrm>
            <a:custGeom>
              <a:avLst/>
              <a:gdLst/>
              <a:ahLst/>
              <a:cxnLst/>
              <a:rect r="r" b="b" t="t" l="l"/>
              <a:pathLst>
                <a:path h="609600" w="5804027">
                  <a:moveTo>
                    <a:pt x="0" y="0"/>
                  </a:moveTo>
                  <a:lnTo>
                    <a:pt x="5804027" y="0"/>
                  </a:lnTo>
                  <a:lnTo>
                    <a:pt x="580402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7" t="0" r="-21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06490" y="3986212"/>
            <a:ext cx="4353001" cy="457200"/>
            <a:chOff x="0" y="0"/>
            <a:chExt cx="5804002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804027" cy="609600"/>
            </a:xfrm>
            <a:custGeom>
              <a:avLst/>
              <a:gdLst/>
              <a:ahLst/>
              <a:cxnLst/>
              <a:rect r="r" b="b" t="t" l="l"/>
              <a:pathLst>
                <a:path h="609600" w="5804027">
                  <a:moveTo>
                    <a:pt x="0" y="0"/>
                  </a:moveTo>
                  <a:lnTo>
                    <a:pt x="5804027" y="0"/>
                  </a:lnTo>
                  <a:lnTo>
                    <a:pt x="5804027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" t="0" r="-21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676275"/>
            <a:ext cx="173736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COMUNICACIÓN SERIE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1038225"/>
            <a:ext cx="17373600" cy="661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Bus I2C: Pantalla con Solo 2 Cables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8738" y="4662487"/>
            <a:ext cx="571331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SDA (Datos) ➔ GPIO 21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8738" y="5205413"/>
            <a:ext cx="449587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Envía bytes de texto y gráficos en serie.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67614" y="4662487"/>
            <a:ext cx="571331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SCL (Reloj) ➔ GPIO 22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67614" y="5205413"/>
            <a:ext cx="449587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Marca el pulso constante de sincronismo.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06490" y="4662487"/>
            <a:ext cx="56815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Dirección Hex (0x3C)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6490" y="5205413"/>
            <a:ext cx="4495876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Identificador del dispositivo en el bus.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106" y="1921669"/>
            <a:ext cx="5348211" cy="6015038"/>
            <a:chOff x="0" y="0"/>
            <a:chExt cx="7130948" cy="8020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31050" cy="8020050"/>
            </a:xfrm>
            <a:custGeom>
              <a:avLst/>
              <a:gdLst/>
              <a:ahLst/>
              <a:cxnLst/>
              <a:rect r="r" b="b" t="t" l="l"/>
              <a:pathLst>
                <a:path h="8020050" w="7131050">
                  <a:moveTo>
                    <a:pt x="0" y="267462"/>
                  </a:moveTo>
                  <a:cubicBezTo>
                    <a:pt x="0" y="119761"/>
                    <a:pt x="119761" y="0"/>
                    <a:pt x="267462" y="0"/>
                  </a:cubicBezTo>
                  <a:lnTo>
                    <a:pt x="6863588" y="0"/>
                  </a:lnTo>
                  <a:cubicBezTo>
                    <a:pt x="7011289" y="0"/>
                    <a:pt x="7131050" y="119761"/>
                    <a:pt x="7131050" y="267462"/>
                  </a:cubicBezTo>
                  <a:lnTo>
                    <a:pt x="7131050" y="7752588"/>
                  </a:lnTo>
                  <a:cubicBezTo>
                    <a:pt x="7131050" y="7900289"/>
                    <a:pt x="7011289" y="8020050"/>
                    <a:pt x="6863588" y="8020050"/>
                  </a:cubicBezTo>
                  <a:lnTo>
                    <a:pt x="267462" y="8020050"/>
                  </a:lnTo>
                  <a:cubicBezTo>
                    <a:pt x="119761" y="8020050"/>
                    <a:pt x="0" y="7900289"/>
                    <a:pt x="0" y="77525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469780" y="1921669"/>
            <a:ext cx="5348211" cy="6015038"/>
            <a:chOff x="0" y="0"/>
            <a:chExt cx="7130948" cy="8020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31050" cy="8020050"/>
            </a:xfrm>
            <a:custGeom>
              <a:avLst/>
              <a:gdLst/>
              <a:ahLst/>
              <a:cxnLst/>
              <a:rect r="r" b="b" t="t" l="l"/>
              <a:pathLst>
                <a:path h="8020050" w="7131050">
                  <a:moveTo>
                    <a:pt x="0" y="267462"/>
                  </a:moveTo>
                  <a:cubicBezTo>
                    <a:pt x="0" y="119761"/>
                    <a:pt x="119761" y="0"/>
                    <a:pt x="267462" y="0"/>
                  </a:cubicBezTo>
                  <a:lnTo>
                    <a:pt x="6863588" y="0"/>
                  </a:lnTo>
                  <a:cubicBezTo>
                    <a:pt x="7011289" y="0"/>
                    <a:pt x="7131050" y="119761"/>
                    <a:pt x="7131050" y="267462"/>
                  </a:cubicBezTo>
                  <a:lnTo>
                    <a:pt x="7131050" y="7752588"/>
                  </a:lnTo>
                  <a:cubicBezTo>
                    <a:pt x="7131050" y="7900289"/>
                    <a:pt x="7011289" y="8020050"/>
                    <a:pt x="6863588" y="8020050"/>
                  </a:cubicBezTo>
                  <a:lnTo>
                    <a:pt x="267462" y="8020050"/>
                  </a:lnTo>
                  <a:cubicBezTo>
                    <a:pt x="119761" y="8020050"/>
                    <a:pt x="0" y="7900289"/>
                    <a:pt x="0" y="77525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089454" y="1921669"/>
            <a:ext cx="5348211" cy="6015038"/>
            <a:chOff x="0" y="0"/>
            <a:chExt cx="7130948" cy="8020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1050" cy="8020050"/>
            </a:xfrm>
            <a:custGeom>
              <a:avLst/>
              <a:gdLst/>
              <a:ahLst/>
              <a:cxnLst/>
              <a:rect r="r" b="b" t="t" l="l"/>
              <a:pathLst>
                <a:path h="8020050" w="7131050">
                  <a:moveTo>
                    <a:pt x="0" y="267462"/>
                  </a:moveTo>
                  <a:cubicBezTo>
                    <a:pt x="0" y="119761"/>
                    <a:pt x="119761" y="0"/>
                    <a:pt x="267462" y="0"/>
                  </a:cubicBezTo>
                  <a:lnTo>
                    <a:pt x="6863588" y="0"/>
                  </a:lnTo>
                  <a:cubicBezTo>
                    <a:pt x="7011289" y="0"/>
                    <a:pt x="7131050" y="119761"/>
                    <a:pt x="7131050" y="267462"/>
                  </a:cubicBezTo>
                  <a:lnTo>
                    <a:pt x="7131050" y="7752588"/>
                  </a:lnTo>
                  <a:cubicBezTo>
                    <a:pt x="7131050" y="7900289"/>
                    <a:pt x="7011289" y="8020050"/>
                    <a:pt x="6863588" y="8020050"/>
                  </a:cubicBezTo>
                  <a:lnTo>
                    <a:pt x="267462" y="8020050"/>
                  </a:lnTo>
                  <a:cubicBezTo>
                    <a:pt x="119761" y="8020050"/>
                    <a:pt x="0" y="7900289"/>
                    <a:pt x="0" y="7752588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619125"/>
            <a:ext cx="17430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GUÍA DE MONTAJE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952500"/>
            <a:ext cx="17430750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Esquema de Conexiones: ¿Qué va Dónde?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5862" y="2295525"/>
            <a:ext cx="6138167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1. Sensor HC-SR04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5862" y="28908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VCC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Vin / 5V (ESP32)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5862" y="33480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GND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GND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5862" y="38052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TRIG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GPIO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862" y="42624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ECHO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Divisor ➔ GPIO 18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05536" y="2295525"/>
            <a:ext cx="6138167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2. Pantalla OLED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05536" y="28908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VCC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3.3V (ESP32)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05536" y="33480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GND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GND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5536" y="38052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SDA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GPIO 21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5536" y="42624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SCL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GPIO 22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5210" y="2295525"/>
            <a:ext cx="586279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3. Buzzer + Divisor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25210" y="28908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Buzzer (+)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GPIO 19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5210" y="3348037"/>
            <a:ext cx="58458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912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Buzzer (-)</a:t>
            </a:r>
            <a:r>
              <a:rPr lang="en-US" sz="1912">
                <a:solidFill>
                  <a:srgbClr val="0F172A"/>
                </a:solidFill>
                <a:latin typeface="Arimo"/>
                <a:ea typeface="Arimo"/>
                <a:cs typeface="Arimo"/>
                <a:sym typeface="Arimo"/>
              </a:rPr>
              <a:t> ➔ GND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5210" y="3852862"/>
            <a:ext cx="5845874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800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R1 (1kΩ)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: ECHO a GPIO 18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25210" y="4267200"/>
            <a:ext cx="5845874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1800" b="true">
                <a:solidFill>
                  <a:srgbClr val="475569"/>
                </a:solidFill>
                <a:latin typeface="Arimo Bold"/>
                <a:ea typeface="Arimo Bold"/>
                <a:cs typeface="Arimo Bold"/>
                <a:sym typeface="Arimo Bold"/>
              </a:rPr>
              <a:t>R2 (2kΩ)</a:t>
            </a: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: GPIO 18 a GND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1928812"/>
            <a:ext cx="10329862" cy="6000750"/>
            <a:chOff x="0" y="0"/>
            <a:chExt cx="13773150" cy="800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7315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377315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13506450" y="0"/>
                  </a:lnTo>
                  <a:cubicBezTo>
                    <a:pt x="13653770" y="0"/>
                    <a:pt x="13773150" y="119380"/>
                    <a:pt x="13773150" y="266700"/>
                  </a:cubicBezTo>
                  <a:lnTo>
                    <a:pt x="13773150" y="7734300"/>
                  </a:lnTo>
                  <a:cubicBezTo>
                    <a:pt x="13773150" y="7881620"/>
                    <a:pt x="13653770" y="8001000"/>
                    <a:pt x="13506450" y="8001000"/>
                  </a:cubicBezTo>
                  <a:lnTo>
                    <a:pt x="266700" y="8001000"/>
                  </a:lnTo>
                  <a:cubicBezTo>
                    <a:pt x="119380" y="8001000"/>
                    <a:pt x="0" y="7881620"/>
                    <a:pt x="0" y="77343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37169" y="1921669"/>
            <a:ext cx="5800725" cy="2900362"/>
            <a:chOff x="0" y="0"/>
            <a:chExt cx="7734300" cy="386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734300" cy="3867150"/>
            </a:xfrm>
            <a:custGeom>
              <a:avLst/>
              <a:gdLst/>
              <a:ahLst/>
              <a:cxnLst/>
              <a:rect r="r" b="b" t="t" l="l"/>
              <a:pathLst>
                <a:path h="3867150" w="773430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7504557" y="0"/>
                  </a:lnTo>
                  <a:cubicBezTo>
                    <a:pt x="7631430" y="0"/>
                    <a:pt x="7734300" y="102870"/>
                    <a:pt x="7734300" y="229743"/>
                  </a:cubicBezTo>
                  <a:lnTo>
                    <a:pt x="7734300" y="3637407"/>
                  </a:lnTo>
                  <a:cubicBezTo>
                    <a:pt x="7734300" y="3764280"/>
                    <a:pt x="7631430" y="3867150"/>
                    <a:pt x="7504557" y="3867150"/>
                  </a:cubicBezTo>
                  <a:lnTo>
                    <a:pt x="229743" y="3867150"/>
                  </a:lnTo>
                  <a:cubicBezTo>
                    <a:pt x="102870" y="3867150"/>
                    <a:pt x="0" y="3764280"/>
                    <a:pt x="0" y="363740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637169" y="5036344"/>
            <a:ext cx="5800725" cy="2900362"/>
            <a:chOff x="0" y="0"/>
            <a:chExt cx="7734300" cy="386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734300" cy="3867150"/>
            </a:xfrm>
            <a:custGeom>
              <a:avLst/>
              <a:gdLst/>
              <a:ahLst/>
              <a:cxnLst/>
              <a:rect r="r" b="b" t="t" l="l"/>
              <a:pathLst>
                <a:path h="3867150" w="773430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7504557" y="0"/>
                  </a:lnTo>
                  <a:cubicBezTo>
                    <a:pt x="7631430" y="0"/>
                    <a:pt x="7734300" y="102870"/>
                    <a:pt x="7734300" y="229743"/>
                  </a:cubicBezTo>
                  <a:lnTo>
                    <a:pt x="7734300" y="3637407"/>
                  </a:lnTo>
                  <a:cubicBezTo>
                    <a:pt x="7734300" y="3764280"/>
                    <a:pt x="7631430" y="3867150"/>
                    <a:pt x="7504557" y="3867150"/>
                  </a:cubicBezTo>
                  <a:lnTo>
                    <a:pt x="229743" y="3867150"/>
                  </a:lnTo>
                  <a:cubicBezTo>
                    <a:pt x="102870" y="3867150"/>
                    <a:pt x="0" y="3764280"/>
                    <a:pt x="0" y="3637407"/>
                  </a:cubicBezTo>
                  <a:close/>
                </a:path>
              </a:pathLst>
            </a:custGeom>
            <a:solidFill>
              <a:srgbClr val="F8FAFC"/>
            </a:solidFill>
            <a:ln w="14288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57250" y="619125"/>
            <a:ext cx="174307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0284C7"/>
                </a:solidFill>
                <a:latin typeface="Arimo Bold"/>
                <a:ea typeface="Arimo Bold"/>
                <a:cs typeface="Arimo Bold"/>
                <a:sym typeface="Arimo Bold"/>
              </a:rPr>
              <a:t>LÓGICA DE CONTROL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952500"/>
            <a:ext cx="17430750" cy="6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3825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El Núcleo del Código en 3 Pasos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150" y="3214688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Pulso de disparo (10 microsegundos)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150" y="3557588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digitalWrite(PIN_TRIG, HIGH); delayMicroseconds(10);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0150" y="3871912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digitalWrite(PIN_TRIG, LOW);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50" y="4300538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Medir tiempo de eco y calcular cm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150" y="4643438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long t = pulseIn(PIN_ECHO, HIGH);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150" y="4957762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float distancia = t * 0.0343 / 2.0;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0150" y="5386388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3. Cadencia del pitido según distancia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150" y="5729288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 pausa = map(distancia, 10, 100, 40, 500);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150" y="6043612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digitalWrite(PIN_BUZZER, HIGH); delay(40);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150" y="6357938"/>
            <a:ext cx="120550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digitalWrite(PIN_BUZZER, LOW); delay(pausa);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4350" y="2981325"/>
            <a:ext cx="634365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pulseIn()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4350" y="3424238"/>
            <a:ext cx="6343650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Mide en microsegundos el rebote sonoro.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44350" y="5945981"/>
            <a:ext cx="6343650" cy="37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map()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44350" y="6388894"/>
            <a:ext cx="532923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A menor distancia en cm, menor tiempo de silencio.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6800" y="7050881"/>
            <a:ext cx="914400" cy="57150"/>
            <a:chOff x="0" y="0"/>
            <a:chExt cx="12192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" cy="76200"/>
            </a:xfrm>
            <a:custGeom>
              <a:avLst/>
              <a:gdLst/>
              <a:ahLst/>
              <a:cxnLst/>
              <a:rect r="r" b="b" t="t" l="l"/>
              <a:pathLst>
                <a:path h="76200" w="12192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181100" y="0"/>
                  </a:lnTo>
                  <a:cubicBezTo>
                    <a:pt x="1202182" y="0"/>
                    <a:pt x="1219200" y="17018"/>
                    <a:pt x="1219200" y="38100"/>
                  </a:cubicBezTo>
                  <a:cubicBezTo>
                    <a:pt x="1219200" y="59182"/>
                    <a:pt x="1202182" y="76200"/>
                    <a:pt x="11811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875859" y="3159919"/>
            <a:ext cx="4536281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38BDF8"/>
                </a:solidFill>
                <a:latin typeface="Arimo Bold"/>
                <a:ea typeface="Arimo Bold"/>
                <a:cs typeface="Arimo Bold"/>
                <a:sym typeface="Arimo Bold"/>
              </a:rPr>
              <a:t>¡A MONTAR POR EQUIPOS!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4252" y="3679031"/>
            <a:ext cx="15939487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Montad el circuito y probad el sensor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14625" y="5726906"/>
            <a:ext cx="128587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>
                <a:solidFill>
                  <a:srgbClr val="94A3B8"/>
                </a:solidFill>
                <a:latin typeface="Arimo"/>
                <a:ea typeface="Arimo"/>
                <a:cs typeface="Arimo"/>
                <a:sym typeface="Arimo"/>
              </a:rPr>
              <a:t>1. Cablead en la protoboard  |  2. Revisad GND y 5V  |  3. Cargad el código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1500188"/>
            <a:ext cx="1285875" cy="714375"/>
            <a:chOff x="0" y="0"/>
            <a:chExt cx="1714500" cy="952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714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714500">
                  <a:moveTo>
                    <a:pt x="0" y="0"/>
                  </a:moveTo>
                  <a:lnTo>
                    <a:pt x="1714500" y="0"/>
                  </a:lnTo>
                  <a:lnTo>
                    <a:pt x="1714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838200"/>
            <a:ext cx="328165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Image Sources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0312" y="1547813"/>
            <a:ext cx="898326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https://arith-matic.com/notebook/img/logic-gates/logic-diagram-74hc173.jpg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312" y="1838325"/>
            <a:ext cx="3339703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Source: arith-matic.com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DAHX3uk5ezQ</dc:identifier>
  <dcterms:modified xsi:type="dcterms:W3CDTF">2011-08-01T06:04:30Z</dcterms:modified>
  <cp:revision>1</cp:revision>
  <dc:title>ESP32 Sensor de Parking.pptx</dc:title>
</cp:coreProperties>
</file>